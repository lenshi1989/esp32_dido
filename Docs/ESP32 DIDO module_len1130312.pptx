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2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8E1FF-7AA8-4573-9425-401E5B379F52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4375B-97B6-43DA-BEB5-BE79CD8734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10854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38681C2-8CE8-4D26-8AB4-A04CCB7398E8}" type="slidenum">
              <a:rPr lang="zh-TW" altLang="en-US" smtClean="0">
                <a:latin typeface="Arial" pitchFamily="34" charset="0"/>
                <a:ea typeface="新細明體" pitchFamily="18" charset="-120"/>
              </a:rPr>
              <a:pPr/>
              <a:t>4</a:t>
            </a:fld>
            <a:endParaRPr lang="zh-TW" altLang="en-US" smtClean="0"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AD9F4-3B54-4F06-89A5-C7CBAF08BEAF}" type="datetimeFigureOut">
              <a:rPr lang="zh-TW" altLang="en-US" smtClean="0"/>
              <a:pPr/>
              <a:t>2024/3/12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8BF8E-C976-4ED7-8A58-AFE2CD66E9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46008" y="4789649"/>
            <a:ext cx="1440161" cy="792088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ESP32</a:t>
            </a:r>
          </a:p>
        </p:txBody>
      </p:sp>
      <p:sp>
        <p:nvSpPr>
          <p:cNvPr id="8" name="矩形 7"/>
          <p:cNvSpPr/>
          <p:nvPr/>
        </p:nvSpPr>
        <p:spPr>
          <a:xfrm>
            <a:off x="5652120" y="4789649"/>
            <a:ext cx="1152128" cy="792088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DO</a:t>
            </a:r>
          </a:p>
          <a:p>
            <a:pPr algn="ctr"/>
            <a:r>
              <a:rPr lang="en-US" altLang="zh-TW" dirty="0"/>
              <a:t>110V/10A</a:t>
            </a:r>
          </a:p>
          <a:p>
            <a:pPr algn="ctr"/>
            <a:r>
              <a:rPr lang="en-US" altLang="zh-TW" dirty="0"/>
              <a:t>5V Relay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1232391" y="4861657"/>
            <a:ext cx="720080" cy="648072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DI</a:t>
            </a:r>
          </a:p>
          <a:p>
            <a:pPr algn="ctr"/>
            <a:r>
              <a:rPr lang="zh-TW" altLang="en-US" dirty="0"/>
              <a:t>開關</a:t>
            </a:r>
          </a:p>
        </p:txBody>
      </p:sp>
      <p:cxnSp>
        <p:nvCxnSpPr>
          <p:cNvPr id="11" name="直線接點 10"/>
          <p:cNvCxnSpPr>
            <a:cxnSpLocks/>
            <a:stCxn id="9" idx="3"/>
            <a:endCxn id="5" idx="1"/>
          </p:cNvCxnSpPr>
          <p:nvPr/>
        </p:nvCxnSpPr>
        <p:spPr>
          <a:xfrm>
            <a:off x="1952471" y="5185693"/>
            <a:ext cx="99353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cxnSpLocks/>
            <a:stCxn id="5" idx="3"/>
            <a:endCxn id="8" idx="1"/>
          </p:cNvCxnSpPr>
          <p:nvPr/>
        </p:nvCxnSpPr>
        <p:spPr>
          <a:xfrm>
            <a:off x="4386169" y="5185693"/>
            <a:ext cx="126595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cxnSpLocks/>
            <a:stCxn id="25" idx="3"/>
          </p:cNvCxnSpPr>
          <p:nvPr/>
        </p:nvCxnSpPr>
        <p:spPr>
          <a:xfrm>
            <a:off x="1905496" y="4064901"/>
            <a:ext cx="140338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6074676" y="2730493"/>
            <a:ext cx="1846503" cy="63099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2.4G</a:t>
            </a:r>
            <a:r>
              <a:rPr lang="zh-TW" altLang="en-US" dirty="0"/>
              <a:t> </a:t>
            </a:r>
            <a:r>
              <a:rPr lang="en-US" altLang="zh-TW" dirty="0" err="1"/>
              <a:t>WiFi</a:t>
            </a:r>
            <a:endParaRPr lang="en-US" altLang="zh-TW" dirty="0"/>
          </a:p>
          <a:p>
            <a:pPr algn="ctr"/>
            <a:r>
              <a:rPr lang="zh-TW" altLang="en-US" dirty="0"/>
              <a:t>手機 </a:t>
            </a:r>
            <a:r>
              <a:rPr lang="en-US" altLang="zh-TW" dirty="0"/>
              <a:t>MQTT APP</a:t>
            </a:r>
          </a:p>
        </p:txBody>
      </p:sp>
      <p:sp>
        <p:nvSpPr>
          <p:cNvPr id="21" name="文字方塊 20"/>
          <p:cNvSpPr txBox="1"/>
          <p:nvPr/>
        </p:nvSpPr>
        <p:spPr>
          <a:xfrm>
            <a:off x="2005377" y="4124490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WiFi</a:t>
            </a:r>
            <a:r>
              <a:rPr lang="en-US" altLang="zh-TW" dirty="0"/>
              <a:t> </a:t>
            </a:r>
            <a:r>
              <a:rPr lang="zh-TW" altLang="en-US" dirty="0"/>
              <a:t>連線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681360" y="3740865"/>
            <a:ext cx="1224136" cy="648072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2.4G</a:t>
            </a:r>
            <a:r>
              <a:rPr lang="zh-TW" altLang="en-US" dirty="0"/>
              <a:t> </a:t>
            </a:r>
            <a:r>
              <a:rPr lang="en-US" altLang="zh-TW" dirty="0" err="1"/>
              <a:t>WiFi</a:t>
            </a:r>
            <a:endParaRPr lang="en-US" altLang="zh-TW" dirty="0"/>
          </a:p>
          <a:p>
            <a:pPr algn="ctr"/>
            <a:r>
              <a:rPr lang="en-US" altLang="zh-TW" dirty="0"/>
              <a:t>AP </a:t>
            </a:r>
            <a:r>
              <a:rPr lang="zh-TW" altLang="en-US" dirty="0"/>
              <a:t>路由器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3743801" y="3939824"/>
            <a:ext cx="75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MQTT</a:t>
            </a:r>
            <a:endParaRPr lang="zh-TW" altLang="en-US" dirty="0"/>
          </a:p>
        </p:txBody>
      </p:sp>
      <p:sp>
        <p:nvSpPr>
          <p:cNvPr id="37" name="雲朵形圖說文字 36"/>
          <p:cNvSpPr/>
          <p:nvPr/>
        </p:nvSpPr>
        <p:spPr>
          <a:xfrm>
            <a:off x="573348" y="2014072"/>
            <a:ext cx="1440160" cy="1008112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CHT</a:t>
            </a:r>
          </a:p>
          <a:p>
            <a:pPr algn="ctr"/>
            <a:r>
              <a:rPr lang="en-US" altLang="zh-TW" dirty="0"/>
              <a:t>internet</a:t>
            </a:r>
            <a:endParaRPr lang="zh-TW" altLang="en-US" dirty="0"/>
          </a:p>
        </p:txBody>
      </p:sp>
      <p:cxnSp>
        <p:nvCxnSpPr>
          <p:cNvPr id="38" name="直線接點 37"/>
          <p:cNvCxnSpPr>
            <a:stCxn id="37" idx="1"/>
            <a:endCxn id="25" idx="0"/>
          </p:cNvCxnSpPr>
          <p:nvPr/>
        </p:nvCxnSpPr>
        <p:spPr>
          <a:xfrm>
            <a:off x="1293428" y="3021111"/>
            <a:ext cx="0" cy="7197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cxnSpLocks/>
          </p:cNvCxnSpPr>
          <p:nvPr/>
        </p:nvCxnSpPr>
        <p:spPr>
          <a:xfrm>
            <a:off x="3317007" y="4064901"/>
            <a:ext cx="0" cy="72474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cxnSpLocks/>
            <a:stCxn id="72" idx="1"/>
            <a:endCxn id="5" idx="0"/>
          </p:cNvCxnSpPr>
          <p:nvPr/>
        </p:nvCxnSpPr>
        <p:spPr>
          <a:xfrm>
            <a:off x="3666088" y="3441191"/>
            <a:ext cx="1" cy="13484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cxnSpLocks/>
            <a:stCxn id="19" idx="1"/>
            <a:endCxn id="72" idx="2"/>
          </p:cNvCxnSpPr>
          <p:nvPr/>
        </p:nvCxnSpPr>
        <p:spPr>
          <a:xfrm flipH="1">
            <a:off x="4996016" y="3045990"/>
            <a:ext cx="107866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5106890" y="2648059"/>
            <a:ext cx="75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MQTT</a:t>
            </a:r>
            <a:endParaRPr lang="zh-TW" altLang="en-US" dirty="0"/>
          </a:p>
        </p:txBody>
      </p:sp>
      <p:sp>
        <p:nvSpPr>
          <p:cNvPr id="72" name="雲朵形圖說文字 71"/>
          <p:cNvSpPr/>
          <p:nvPr/>
        </p:nvSpPr>
        <p:spPr>
          <a:xfrm>
            <a:off x="2333940" y="2649946"/>
            <a:ext cx="2664296" cy="792088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MQTT</a:t>
            </a:r>
            <a:r>
              <a:rPr lang="zh-TW" altLang="en-US" dirty="0"/>
              <a:t> 伺服器</a:t>
            </a:r>
            <a:endParaRPr lang="en-US" altLang="zh-TW" dirty="0"/>
          </a:p>
          <a:p>
            <a:pPr algn="ctr"/>
            <a:r>
              <a:rPr lang="en-US" altLang="zh-TW" dirty="0"/>
              <a:t>broker.mqttgo.io</a:t>
            </a:r>
          </a:p>
        </p:txBody>
      </p:sp>
      <p:sp>
        <p:nvSpPr>
          <p:cNvPr id="54" name="矩形 53"/>
          <p:cNvSpPr/>
          <p:nvPr/>
        </p:nvSpPr>
        <p:spPr>
          <a:xfrm>
            <a:off x="3162033" y="6119574"/>
            <a:ext cx="1008112" cy="504056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DC 5V</a:t>
            </a:r>
          </a:p>
          <a:p>
            <a:pPr algn="ctr"/>
            <a:r>
              <a:rPr lang="en-US" altLang="zh-TW" dirty="0"/>
              <a:t>adapter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4838602" y="6191582"/>
            <a:ext cx="1296144" cy="36004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110V/60HZ</a:t>
            </a:r>
            <a:endParaRPr lang="zh-TW" altLang="en-US" dirty="0"/>
          </a:p>
        </p:txBody>
      </p:sp>
      <p:cxnSp>
        <p:nvCxnSpPr>
          <p:cNvPr id="56" name="直線接點 55"/>
          <p:cNvCxnSpPr>
            <a:stCxn id="54" idx="3"/>
            <a:endCxn id="55" idx="1"/>
          </p:cNvCxnSpPr>
          <p:nvPr/>
        </p:nvCxnSpPr>
        <p:spPr>
          <a:xfrm>
            <a:off x="4170145" y="6371602"/>
            <a:ext cx="66845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cxnSpLocks/>
            <a:stCxn id="5" idx="2"/>
            <a:endCxn id="54" idx="0"/>
          </p:cNvCxnSpPr>
          <p:nvPr/>
        </p:nvCxnSpPr>
        <p:spPr>
          <a:xfrm>
            <a:off x="3666089" y="5581737"/>
            <a:ext cx="0" cy="53783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矩形: 圓角 44">
            <a:extLst>
              <a:ext uri="{FF2B5EF4-FFF2-40B4-BE49-F238E27FC236}">
                <a16:creationId xmlns="" xmlns:a16="http://schemas.microsoft.com/office/drawing/2014/main" id="{84380C32-DD63-39FD-B217-BADDC3F845BA}"/>
              </a:ext>
            </a:extLst>
          </p:cNvPr>
          <p:cNvSpPr/>
          <p:nvPr/>
        </p:nvSpPr>
        <p:spPr>
          <a:xfrm>
            <a:off x="2937162" y="600791"/>
            <a:ext cx="3696656" cy="115577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MQTT Topic</a:t>
            </a:r>
          </a:p>
          <a:p>
            <a:r>
              <a:rPr lang="en-US" altLang="zh-TW" dirty="0"/>
              <a:t>Topic1(DO</a:t>
            </a:r>
            <a:r>
              <a:rPr lang="zh-TW" altLang="en-US" dirty="0"/>
              <a:t>開關</a:t>
            </a:r>
            <a:r>
              <a:rPr lang="en-US" altLang="zh-TW" dirty="0"/>
              <a:t>):esp32/</a:t>
            </a:r>
            <a:r>
              <a:rPr lang="en-US" altLang="zh-TW" dirty="0" err="1"/>
              <a:t>len</a:t>
            </a:r>
            <a:endParaRPr lang="en-US" altLang="zh-TW" dirty="0"/>
          </a:p>
          <a:p>
            <a:r>
              <a:rPr lang="en-US" altLang="zh-TW" dirty="0"/>
              <a:t>Topic2(DO</a:t>
            </a:r>
            <a:r>
              <a:rPr lang="zh-TW" altLang="en-US" dirty="0"/>
              <a:t>狀態</a:t>
            </a:r>
            <a:r>
              <a:rPr lang="en-US" altLang="zh-TW" dirty="0"/>
              <a:t>):esp32/</a:t>
            </a:r>
            <a:r>
              <a:rPr lang="en-US" altLang="zh-TW" dirty="0" err="1"/>
              <a:t>len</a:t>
            </a:r>
            <a:r>
              <a:rPr lang="en-US" altLang="zh-TW" dirty="0"/>
              <a:t>/receive</a:t>
            </a:r>
          </a:p>
          <a:p>
            <a:r>
              <a:rPr lang="en-US" altLang="zh-TW" dirty="0"/>
              <a:t>Topic3(DI</a:t>
            </a:r>
            <a:r>
              <a:rPr lang="zh-TW" altLang="en-US" dirty="0"/>
              <a:t>狀態</a:t>
            </a:r>
            <a:r>
              <a:rPr lang="en-US" altLang="zh-TW" dirty="0"/>
              <a:t>):esp32/</a:t>
            </a:r>
            <a:r>
              <a:rPr lang="en-US" altLang="zh-TW" dirty="0" err="1"/>
              <a:t>len</a:t>
            </a:r>
            <a:r>
              <a:rPr lang="en-US" altLang="zh-TW" dirty="0"/>
              <a:t>/alarm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="" xmlns:a16="http://schemas.microsoft.com/office/drawing/2014/main" id="{34819AB8-F024-F044-1776-D04B11963FE4}"/>
              </a:ext>
            </a:extLst>
          </p:cNvPr>
          <p:cNvSpPr txBox="1"/>
          <p:nvPr/>
        </p:nvSpPr>
        <p:spPr>
          <a:xfrm>
            <a:off x="1193570" y="5509248"/>
            <a:ext cx="71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core0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="" xmlns:a16="http://schemas.microsoft.com/office/drawing/2014/main" id="{1E2E62D7-0385-B909-B4BA-D1E8057A7D40}"/>
              </a:ext>
            </a:extLst>
          </p:cNvPr>
          <p:cNvSpPr txBox="1"/>
          <p:nvPr/>
        </p:nvSpPr>
        <p:spPr>
          <a:xfrm>
            <a:off x="5872221" y="5588982"/>
            <a:ext cx="71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core0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="" xmlns:a16="http://schemas.microsoft.com/office/drawing/2014/main" id="{79ECA555-494A-3BCE-99EB-412A0CD80C25}"/>
              </a:ext>
            </a:extLst>
          </p:cNvPr>
          <p:cNvSpPr txBox="1"/>
          <p:nvPr/>
        </p:nvSpPr>
        <p:spPr>
          <a:xfrm>
            <a:off x="-69422" y="3880235"/>
            <a:ext cx="71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core1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="" xmlns:a16="http://schemas.microsoft.com/office/drawing/2014/main" id="{681DB47D-C75B-51F7-AE0E-42B17D709B09}"/>
              </a:ext>
            </a:extLst>
          </p:cNvPr>
          <p:cNvSpPr txBox="1"/>
          <p:nvPr/>
        </p:nvSpPr>
        <p:spPr>
          <a:xfrm>
            <a:off x="3387838" y="2245704"/>
            <a:ext cx="71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core1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699792" y="620688"/>
            <a:ext cx="3600400" cy="4392488"/>
          </a:xfrm>
          <a:prstGeom prst="rect">
            <a:avLst/>
          </a:prstGeom>
          <a:ln w="12700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563888" y="2564904"/>
            <a:ext cx="1656184" cy="122413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ESP32 D1 mini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3851920" y="980728"/>
            <a:ext cx="1224136" cy="136815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OLED</a:t>
            </a:r>
          </a:p>
          <a:p>
            <a:pPr algn="ctr"/>
            <a:r>
              <a:rPr lang="en-US" altLang="zh-TW" dirty="0" smtClean="0"/>
              <a:t>ST7789</a:t>
            </a:r>
            <a:endParaRPr lang="zh-TW" altLang="en-US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971600" y="908720"/>
            <a:ext cx="17281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971600" y="1124744"/>
            <a:ext cx="17281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610245" y="48623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DI</a:t>
            </a:r>
            <a:endParaRPr lang="zh-TW" altLang="en-US" dirty="0"/>
          </a:p>
        </p:txBody>
      </p:sp>
      <p:cxnSp>
        <p:nvCxnSpPr>
          <p:cNvPr id="11" name="直線接點 10"/>
          <p:cNvCxnSpPr/>
          <p:nvPr/>
        </p:nvCxnSpPr>
        <p:spPr>
          <a:xfrm>
            <a:off x="971600" y="3068960"/>
            <a:ext cx="17281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971600" y="3356992"/>
            <a:ext cx="17281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971600" y="4293096"/>
            <a:ext cx="17281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971600" y="4797152"/>
            <a:ext cx="17281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547664" y="2618058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I2C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475656" y="3861048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GND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557091" y="4383958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5V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8" name="直線接點 17"/>
          <p:cNvCxnSpPr/>
          <p:nvPr/>
        </p:nvCxnSpPr>
        <p:spPr>
          <a:xfrm>
            <a:off x="6228184" y="1052736"/>
            <a:ext cx="17281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228184" y="1312487"/>
            <a:ext cx="17281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6228184" y="4149080"/>
            <a:ext cx="17281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6228184" y="4437112"/>
            <a:ext cx="17281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6228184" y="4725144"/>
            <a:ext cx="17281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8090965" y="3948637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NC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075519" y="4543555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NO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7994084" y="4246096"/>
            <a:ext cx="655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</a:t>
            </a:r>
            <a:endParaRPr lang="zh-TW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5148064" y="908720"/>
            <a:ext cx="1080120" cy="576064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RS-485</a:t>
            </a:r>
          </a:p>
          <a:p>
            <a:pPr algn="ctr"/>
            <a:r>
              <a:rPr lang="en-US" altLang="zh-TW" dirty="0" smtClean="0"/>
              <a:t>MODULE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4788024" y="4077072"/>
            <a:ext cx="1440160" cy="72008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AC 125V/15A</a:t>
            </a:r>
          </a:p>
          <a:p>
            <a:pPr algn="ctr"/>
            <a:r>
              <a:rPr lang="en-US" altLang="zh-TW" dirty="0" smtClean="0"/>
              <a:t>DC 5V RELAY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8037811" y="113417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8028384" y="85556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cxnSp>
        <p:nvCxnSpPr>
          <p:cNvPr id="31" name="直線接點 30"/>
          <p:cNvCxnSpPr/>
          <p:nvPr/>
        </p:nvCxnSpPr>
        <p:spPr>
          <a:xfrm>
            <a:off x="4427984" y="3789040"/>
            <a:ext cx="0" cy="208823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572000" y="5373216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USB CABLE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esp32 D1 mini pi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9460" y="332656"/>
            <a:ext cx="8805028" cy="6048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0163" y="15875"/>
          <a:ext cx="9113837" cy="6288088"/>
        </p:xfrm>
        <a:graphic>
          <a:graphicData uri="http://schemas.openxmlformats.org/drawingml/2006/table">
            <a:tbl>
              <a:tblPr/>
              <a:tblGrid>
                <a:gridCol w="941437"/>
                <a:gridCol w="3643263"/>
                <a:gridCol w="1037257"/>
                <a:gridCol w="3491880"/>
              </a:tblGrid>
              <a:tr h="2133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接腳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(I/O)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功 能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接腳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(I/O)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功 能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(3V3)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3.3V</a:t>
                      </a:r>
                      <a:r>
                        <a:rPr kumimoji="0" lang="zh-TW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供電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38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(GND)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GND</a:t>
                      </a:r>
                      <a:r>
                        <a:rPr kumimoji="0" lang="zh-TW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接地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5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(EN)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I/P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高電平</a:t>
                      </a:r>
                      <a:r>
                        <a:rPr kumimoji="0" lang="zh-TW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晶片使能。</a:t>
                      </a: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(/RESET = LOW)</a:t>
                      </a:r>
                      <a:endParaRPr kumimoji="0" lang="zh-TW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37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(23)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9C28A8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VMOSI,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HS1_STROBE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36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)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I/P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ADC1_CH0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,SENSOR_VP,RTC_GPIO0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36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(22)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SCL,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VSPIWP,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U0RTS,EMAC_TXD1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39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)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I/P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ADC1_CH3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,SENSOR_VN,RTC_GPIO3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35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(1)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U0TXD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,CLK_OUT3,EMAC_RXD2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34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)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I/P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ADC1_CH6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,RTC_GPIO4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34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(3)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U0RXD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,CLK_OUT2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35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)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I/P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ADC1_CH7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,RTC_GPIO5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33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(21)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C28A8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SDA,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VSPIHD,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EMAC_TX_EN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(33)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ADC1_CH4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TOUCH9,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XTAL_P(32.768kHz input),RTC_GPIO9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32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(GND)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GND</a:t>
                      </a:r>
                      <a:r>
                        <a:rPr kumimoji="0" lang="zh-TW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接地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(32)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ADC1_CH5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TOUCH8,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XTAL_N(32.768kHz output),RTC_GPIO8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31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(19)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9C28A8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VMISO,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U0CTS,EMAC_TXD0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(25)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DAC_1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ADC2_CH8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,RTC_GPIO6,EMAC_RXD0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30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(18)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C28A8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VSCLK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HS1_DATA7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(26)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DAC_2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ADC2_CH9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,RTC_GPIO7,EMAC_RXD1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29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(5)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9C28A8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VSS,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HS1_DATA6,EMAC_RX_CLK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0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(27)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ADC2_CH7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TOUCH7,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RTC_GPIO17,EMAC_RX_DV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(17)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U2TXD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,HS1_DATA5,EMAC_CLK_OUT_180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(14)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C28A8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HSCLK,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ADC2_CH6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TOUCH6,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MTMS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,RTC_GPIO16,HS2_CLK,SD_CLK,EMAC_TXD2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27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(16)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U2RXD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,HS1_DATA4,EMAC_CLK_OUT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(12)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C28A8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HMISO,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ADC2_CH5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TOUCH5,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MTDI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,RTC_GPIO15,HS2_DATA2,SD_DATA2,EMAC_TXD3 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(4)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ADC2_CH0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TOUCH0,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HS2_DATA1,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RTC_GPIO10,HSPIHD,EMAC_TX_ER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(GND)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GND</a:t>
                      </a:r>
                      <a:r>
                        <a:rPr kumimoji="0" lang="zh-TW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接地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25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(0)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(UP)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ADC2_CH1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TOUCH1,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RTC_GPIO11,CLK_OUT1,EMAC_TX_CLK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15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(13)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C28A8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HMOSI,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ADC2_CH4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TOUCH4,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MTCK,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RTC_GPIO14,HS2_DATA3,SD_DATA3,EMAC_RX_ER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(2)(LED)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ADC2_CH2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TOUCH2,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HS2_DATA0,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HSPIWP,RTC_GPIO12,HS2_DATA0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(9)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SD_DATA2,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U1RXD,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SHD/SD2,SPIHD,HS1_DATA2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23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(15)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C28A8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HSS,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ADC2_CH3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TOUCH3,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MTDO,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RTC_GPIO13,HS2_CMD,SD_CMD,EMAC_RXD3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17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(10)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SD_DATA3,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U1TXD,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SPIWP,HS1_DATA3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(8)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SD_DATA1,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SPID,HS1_DATA1,U2CTS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(11)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SD_CMD,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SPICS0,SCS/CMD,HS1_CMD,U1RTS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21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(7)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SD_DATA0,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SPIQ,HS1_DATA0,U2RTS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1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19(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5V)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5V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zh-TW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電源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  <a:r>
                        <a:rPr kumimoji="0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(6)</a:t>
                      </a:r>
                      <a:endParaRPr kumimoji="0" lang="zh-TW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SD_CLK,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新細明體" pitchFamily="18" charset="-120"/>
                          <a:cs typeface="Times New Roman" pitchFamily="18" charset="0"/>
                        </a:rPr>
                        <a:t>SPICLK,SCK/CLK,HS1_CLK,U1CTS</a:t>
                      </a:r>
                      <a:endParaRPr kumimoji="0" lang="zh-TW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95536" y="476672"/>
          <a:ext cx="3960000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0000"/>
                <a:gridCol w="1980000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DI</a:t>
                      </a:r>
                      <a:endParaRPr lang="zh-TW" alt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ESP32 D1 mini</a:t>
                      </a:r>
                      <a:endParaRPr lang="zh-TW" alt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pin32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GND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pin33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GND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I2C</a:t>
                      </a:r>
                      <a:endParaRPr lang="zh-TW" alt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ESP32 D1 mini</a:t>
                      </a:r>
                      <a:endParaRPr lang="zh-TW" alt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pin21(SDA)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SCL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pin22(SCL)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POWER</a:t>
                      </a:r>
                      <a:endParaRPr lang="zh-TW" alt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ESP32 D1 mini</a:t>
                      </a:r>
                      <a:endParaRPr lang="zh-TW" alt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USB DC 5V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VCC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Relay</a:t>
                      </a:r>
                      <a:endParaRPr lang="zh-TW" alt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ESP32 D1 mini</a:t>
                      </a:r>
                      <a:endParaRPr lang="zh-TW" alt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pin4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VCC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3.3V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788464" y="469488"/>
          <a:ext cx="3960000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0000"/>
                <a:gridCol w="1980000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RS-485</a:t>
                      </a:r>
                      <a:endParaRPr lang="zh-TW" alt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ESP32 D1 mini</a:t>
                      </a:r>
                      <a:endParaRPr lang="zh-TW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DI(TX)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pin17(TX)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R0(RX)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pin16(RX)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DE</a:t>
                      </a:r>
                      <a:r>
                        <a:rPr lang="zh-TW" altLang="en-US" dirty="0" smtClean="0"/>
                        <a:t>、</a:t>
                      </a:r>
                      <a:r>
                        <a:rPr lang="en-US" altLang="zh-TW" dirty="0" smtClean="0"/>
                        <a:t>RE(</a:t>
                      </a:r>
                      <a:r>
                        <a:rPr lang="zh-TW" altLang="en-US" dirty="0" smtClean="0"/>
                        <a:t>短路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pin14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VCC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3.3V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GND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GND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ST7789</a:t>
                      </a:r>
                      <a:r>
                        <a:rPr lang="zh-TW" altLang="en-US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OLED(SPI)</a:t>
                      </a:r>
                      <a:endParaRPr lang="zh-TW" alt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ESP32 D1 mini</a:t>
                      </a:r>
                      <a:endParaRPr lang="zh-TW" alt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3.3V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SCL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pin18(VSCLK)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pin23(VMOSI)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RES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pin0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pin19(VMISO)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pin5(VSS)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BLK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pin15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322</Words>
  <Application>Microsoft Office PowerPoint</Application>
  <PresentationFormat>如螢幕大小 (4:3)</PresentationFormat>
  <Paragraphs>186</Paragraphs>
  <Slides>5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投影片 1</vt:lpstr>
      <vt:lpstr>投影片 2</vt:lpstr>
      <vt:lpstr>投影片 3</vt:lpstr>
      <vt:lpstr>投影片 4</vt:lpstr>
      <vt:lpstr>投影片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Len Shi 施至軒</dc:creator>
  <cp:lastModifiedBy>Len Shi 施至軒</cp:lastModifiedBy>
  <cp:revision>78</cp:revision>
  <dcterms:created xsi:type="dcterms:W3CDTF">2023-10-11T09:15:41Z</dcterms:created>
  <dcterms:modified xsi:type="dcterms:W3CDTF">2024-03-12T07:00:43Z</dcterms:modified>
</cp:coreProperties>
</file>